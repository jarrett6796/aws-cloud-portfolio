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695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{i}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Open with the project identity: a cloud engineering portfolio that evolved from an AWS Cloud Resume into a multi-cloud AI assistant. Emphasize that this is not just a static site; it integrates live AWS and GCP services.</a:t>
            </a:r>
            <a:endParaRPr 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Frame the problem as an engineering delivery problem. The project preserved AWS value through the visitor counter and used GCP for the RAG backend to finish a working system.</a:t>
            </a:r>
            <a:endParaRPr 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Make clear that the goal was a portfolio that behaves like a small product: cloud-hosted, observable, interactive, and explainable.</a:t>
            </a:r>
            <a:endParaRPr 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Walk left to right. AWS serves the portfolio and visitor counter; GCP serves the assistant. The architecture is intentionally multi-cloud but each cloud has a clear responsibility.</a:t>
            </a:r>
            <a:endParaRPr 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Explain the frontend refactor: App.jsx is thin, Home.jsx composes the page, hooks own state, API modules own requests, and components own presentation.</a:t>
            </a:r>
            <a:endParaRPr 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Describe how the backend moved out of an MVP main.py shape into services and routes while keeping the Cloud Run entrypoint stable.</a:t>
            </a:r>
            <a:endParaRPr 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Emphasize that query rewriting is for retrieval only. The original question remains the user-facing and stored user message.</a:t>
            </a:r>
            <a:endParaRPr 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Firestore serves two purposes: document retrieval storage and persistent chat memory. System query rewrite audits use the same message path but are never rendered in the chat UI.</a:t>
            </a:r>
            <a:endParaRPr 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This slide shows why the assistant feels responsive: metadata and tokens arrive before the final answer is complete.</a:t>
            </a:r>
            <a:endParaRPr 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Use this slide to show disciplined progression rather than a one-shot project. Each milestone added a working capability and preserved previous behavior.</a:t>
            </a:r>
            <a:endParaRPr 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Position the current system accurately: beyond naive RAG, not yet production-grade advanced RAG. This honesty is useful in technical interviews.</a:t>
            </a:r>
            <a:endParaRPr 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Call out the production CORS incident and the ingestion endpoint protection as concrete examples of security and operations learning.</a:t>
            </a:r>
            <a:endParaRPr 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Use this slide as an interview story bank: every problem has a specific root cause and a bounded fix.</a:t>
            </a:r>
            <a:endParaRPr 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Be precise: the system is intermediate RAG with advanced features. The gaps are clear and form the roadmap.</a:t>
            </a:r>
            <a:endParaRPr 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The roadmap is intentionally phased. Phase 1 and 2 improve quality without new services; Phase 4 is the bigger infrastructure shift.</a:t>
            </a:r>
            <a:endParaRPr 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This is a clean multi-cloud split, not a random mix: AWS hosts the portfolio surface and visitor counter; GCP hosts AI/RAG.</a:t>
            </a:r>
            <a:endParaRPr 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This slide translates implementation details into hiring signals without watering down the technical specifics.</a:t>
            </a:r>
            <a:endParaRPr 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Tie future improvements to maturity: quality first, then observability, then managed vector infrastructure.</a:t>
            </a:r>
            <a:endParaRPr 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End the value section by emphasizing that the project creates proof: the architecture exists, the code exists, the incident history exists, and the roadmap is realistic.</a:t>
            </a:r>
            <a:endParaRPr 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749807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300">
                <a:solidFill>
                  <a:srgbClr val="111827"/>
                </a:solidFill>
                <a:latin typeface="Aptos"/>
              </a:rPr>
              <a:t>Invite questions on the architecture, the CORS production incident, the RAG pipeline, Firestore schema, or the next Advanced RAG improvement.</a:t>
            </a:r>
            <a:endParaRPr 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{i}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INTRODUCTION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Building a Multi-Cloud AI Portfolio Assistant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01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822960" y="1691640"/>
            <a:ext cx="5852160" cy="118872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3000" b="1">
                <a:solidFill>
                  <a:srgbClr val="F8FAFC"/>
                </a:solidFill>
                <a:latin typeface="Aptos"/>
              </a:rPr>
              <a:t>From AWS Cloud Resume to Advanced GCP RAG</a:t>
            </a:r>
            <a:endParaRPr lang="en-US" sz="3000"/>
          </a:p>
        </p:txBody>
      </p:sp>
      <p:sp>
        <p:nvSpPr>
          <p:cNvPr id="8" name="Shape 8"/>
          <p:cNvSpPr/>
          <p:nvPr/>
        </p:nvSpPr>
        <p:spPr>
          <a:xfrm>
            <a:off x="868680" y="3154680"/>
            <a:ext cx="2743200" cy="822960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AWS foundation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CloudFront + S3 + Lambda + DynamoDB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3977639" y="3154680"/>
            <a:ext cx="2743200" cy="822960"/>
          </a:xfrm>
          <a:prstGeom prst="roundRect">
            <a:avLst/>
          </a:prstGeom>
          <a:solidFill>
            <a:srgbClr val="111D32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GCP AI backend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Cloud Run + Firestore + Vertex AI</a:t>
            </a:r>
            <a:endParaRPr lang="en-US" sz="1500"/>
          </a:p>
        </p:txBody>
      </p:sp>
      <p:sp>
        <p:nvSpPr>
          <p:cNvPr id="10" name="Shape 10"/>
          <p:cNvSpPr/>
          <p:nvPr/>
        </p:nvSpPr>
        <p:spPr>
          <a:xfrm>
            <a:off x="7086600" y="3154680"/>
            <a:ext cx="2743200" cy="822960"/>
          </a:xfrm>
          <a:prstGeom prst="roundRect">
            <a:avLst/>
          </a:prstGeom>
          <a:solidFill>
            <a:srgbClr val="121F2A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Portfolio UX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React assistant + streaming RAG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868680" y="4800600"/>
            <a:ext cx="9509760" cy="6858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>
                <a:solidFill>
                  <a:srgbClr val="94A3B8"/>
                </a:solidFill>
                <a:latin typeface="Aptos"/>
              </a:rPr>
              <a:t>A production-style capstone showing cloud fundamentals, AI retrieval architecture, and disciplined incremental engineering.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WHY IT EXISTS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Problem Statement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02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The portfolio needed to prove real engineering work, not only list skills.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Static resume sites do not show cloud integration depth.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 useful assistant needs grounded project context, not generic model answers.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AWS Lambda / Bedrock RAG slowed down due to access and configuration complexity.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The project needed a deployed, interview-ready AI architecture.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6400800" y="1600200"/>
            <a:ext cx="4206240" cy="914400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600" b="1">
                <a:solidFill>
                  <a:srgbClr val="F8FAFC"/>
                </a:solidFill>
                <a:latin typeface="Aptos"/>
              </a:rPr>
              <a:t>Original path</a:t>
            </a:r>
            <a:endParaRPr lang="en-US" sz="1600"/>
          </a:p>
          <a:p>
            <a:pPr algn="ctr" marL="0" indent="0">
              <a:buNone/>
            </a:pPr>
            <a:r>
              <a:rPr lang="en-US" sz="1600" b="1">
                <a:solidFill>
                  <a:srgbClr val="F8FAFC"/>
                </a:solidFill>
                <a:latin typeface="Aptos"/>
              </a:rPr>
              <a:t>AWS Lambda + Bedrock RAG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6400800" y="2880360"/>
            <a:ext cx="4206240" cy="914400"/>
          </a:xfrm>
          <a:prstGeom prst="roundRect">
            <a:avLst/>
          </a:prstGeom>
          <a:solidFill>
            <a:srgbClr val="111D32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600" b="1">
                <a:solidFill>
                  <a:srgbClr val="F8FAFC"/>
                </a:solidFill>
                <a:latin typeface="Aptos"/>
              </a:rPr>
              <a:t>Practical pivot</a:t>
            </a:r>
            <a:endParaRPr lang="en-US" sz="1600"/>
          </a:p>
          <a:p>
            <a:pPr algn="ctr" marL="0" indent="0">
              <a:buNone/>
            </a:pPr>
            <a:r>
              <a:rPr lang="en-US" sz="1600" b="1">
                <a:solidFill>
                  <a:srgbClr val="F8FAFC"/>
                </a:solidFill>
                <a:latin typeface="Aptos"/>
              </a:rPr>
              <a:t>GCP Cloud Run + Gemini + Firestore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6400800" y="4160520"/>
            <a:ext cx="4206240" cy="914400"/>
          </a:xfrm>
          <a:prstGeom prst="roundRect">
            <a:avLst/>
          </a:prstGeom>
          <a:solidFill>
            <a:srgbClr val="10231C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600" b="1">
                <a:solidFill>
                  <a:srgbClr val="F8FAFC"/>
                </a:solidFill>
                <a:latin typeface="Aptos"/>
              </a:rPr>
              <a:t>Outcome</a:t>
            </a:r>
            <a:endParaRPr lang="en-US" sz="1600"/>
          </a:p>
          <a:p>
            <a:pPr algn="ctr" marL="0" indent="0">
              <a:buNone/>
            </a:pPr>
            <a:r>
              <a:rPr lang="en-US" sz="1600" b="1">
                <a:solidFill>
                  <a:srgbClr val="F8FAFC"/>
                </a:solidFill>
                <a:latin typeface="Aptos"/>
              </a:rPr>
              <a:t>Working deployed RAG assistant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SUCCESS CRITERIA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Project Goals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03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What the system had to demonstrate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Professional portfolio surface for recruiters and technical interviewers.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AWS serverless fundamentals through a live visitor counter.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GCP AI/RAG backend with Cloud Run, Firestore, Cloud Storage, and Vertex AI.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Persistent chat memory, streaming answers, citations, and source rendering.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Clean module boundaries so frontend and backend can keep evolving.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6400800" y="1600200"/>
            <a:ext cx="1234440" cy="9601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2000" b="1">
                <a:solidFill>
                  <a:srgbClr val="4285F4"/>
                </a:solidFill>
                <a:latin typeface="Aptos"/>
              </a:rPr>
              <a:t>UX</a:t>
            </a:r>
            <a:endParaRPr lang="en-US" sz="2000"/>
          </a:p>
        </p:txBody>
      </p:sp>
      <p:sp>
        <p:nvSpPr>
          <p:cNvPr id="9" name="Shape 9"/>
          <p:cNvSpPr/>
          <p:nvPr/>
        </p:nvSpPr>
        <p:spPr>
          <a:xfrm>
            <a:off x="7909560" y="1600200"/>
            <a:ext cx="1234440" cy="9601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2000" b="1">
                <a:solidFill>
                  <a:srgbClr val="FF9900"/>
                </a:solidFill>
                <a:latin typeface="Aptos"/>
              </a:rPr>
              <a:t>AWS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9418320" y="1600200"/>
            <a:ext cx="1234440" cy="9601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2000" b="1">
                <a:solidFill>
                  <a:srgbClr val="4285F4"/>
                </a:solidFill>
                <a:latin typeface="Aptos"/>
              </a:rPr>
              <a:t>GCP</a:t>
            </a:r>
            <a:endParaRPr lang="en-US" sz="2000"/>
          </a:p>
        </p:txBody>
      </p:sp>
      <p:sp>
        <p:nvSpPr>
          <p:cNvPr id="11" name="Shape 11"/>
          <p:cNvSpPr/>
          <p:nvPr/>
        </p:nvSpPr>
        <p:spPr>
          <a:xfrm>
            <a:off x="6400800" y="2971800"/>
            <a:ext cx="4251960" cy="128016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 b="1">
                <a:solidFill>
                  <a:srgbClr val="F8FAFC"/>
                </a:solidFill>
                <a:latin typeface="Aptos"/>
              </a:rPr>
              <a:t>Target signal</a:t>
            </a:r>
            <a:endParaRPr lang="en-US" sz="1800"/>
          </a:p>
          <a:p>
            <a:pPr algn="ctr" marL="0" indent="0">
              <a:buNone/>
            </a:pPr>
            <a:r>
              <a:rPr lang="en-US" sz="1800" b="1">
                <a:solidFill>
                  <a:srgbClr val="F8FAFC"/>
                </a:solidFill>
                <a:latin typeface="Aptos"/>
              </a:rPr>
              <a:t>Cloud + AI engineering maturity, not template-site polish.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2286000" y="1783080"/>
            <a:ext cx="457200" cy="9144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>
            <a:off x="4480560" y="1783080"/>
            <a:ext cx="457200" cy="9144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4" name="Connector 4"/>
          <p:cNvCxnSpPr/>
          <p:nvPr/>
        </p:nvCxnSpPr>
        <p:spPr>
          <a:xfrm flipH="1">
            <a:off x="1828800" y="2103120"/>
            <a:ext cx="3474720" cy="1645919"/>
          </a:xfrm>
          <a:prstGeom prst="line">
            <a:avLst/>
          </a:prstGeom>
          <a:ln w="18000">
            <a:solidFill>
              <a:srgbClr val="FF9900"/>
            </a:solidFill>
            <a:tailEnd type="triangle"/>
          </a:ln>
        </p:spPr>
      </p:cxnSp>
      <p:sp>
        <p:nvSpPr>
          <p:cNvPr id="1004" name="Shape 1004"/>
          <p:cNvSpPr/>
          <p:nvPr/>
        </p:nvSpPr>
        <p:spPr>
          <a:xfrm>
            <a:off x="3063239" y="2798063"/>
            <a:ext cx="10058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FF9900"/>
                </a:solidFill>
                <a:latin typeface="Aptos"/>
              </a:rPr>
              <a:t>visitor</a:t>
            </a:r>
            <a:endParaRPr lang="en-US" sz="800"/>
          </a:p>
        </p:txBody>
      </p:sp>
      <p:cxnSp>
        <p:nvCxnSpPr>
          <p:cNvPr id="5" name="Connector 5"/>
          <p:cNvCxnSpPr/>
          <p:nvPr/>
        </p:nvCxnSpPr>
        <p:spPr>
          <a:xfrm>
            <a:off x="2651760" y="4078224"/>
            <a:ext cx="457200" cy="9144"/>
          </a:xfrm>
          <a:prstGeom prst="line">
            <a:avLst/>
          </a:prstGeom>
          <a:ln w="18000">
            <a:solidFill>
              <a:srgbClr val="FF9900"/>
            </a:solidFill>
            <a:tailEnd type="triangle"/>
          </a:ln>
        </p:spPr>
      </p:cxnSp>
      <p:cxnSp>
        <p:nvCxnSpPr>
          <p:cNvPr id="6" name="Connector 6"/>
          <p:cNvCxnSpPr/>
          <p:nvPr/>
        </p:nvCxnSpPr>
        <p:spPr>
          <a:xfrm>
            <a:off x="4526280" y="4078224"/>
            <a:ext cx="365759" cy="9144"/>
          </a:xfrm>
          <a:prstGeom prst="line">
            <a:avLst/>
          </a:prstGeom>
          <a:ln w="18000">
            <a:solidFill>
              <a:srgbClr val="FF9900"/>
            </a:solidFill>
            <a:tailEnd type="triangle"/>
          </a:ln>
        </p:spPr>
      </p:cxnSp>
      <p:cxnSp>
        <p:nvCxnSpPr>
          <p:cNvPr id="7" name="Connector 7"/>
          <p:cNvCxnSpPr/>
          <p:nvPr/>
        </p:nvCxnSpPr>
        <p:spPr>
          <a:xfrm>
            <a:off x="6858000" y="1783080"/>
            <a:ext cx="54863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1007" name="Shape 1007"/>
          <p:cNvSpPr/>
          <p:nvPr/>
        </p:nvSpPr>
        <p:spPr>
          <a:xfrm>
            <a:off x="6629400" y="1655064"/>
            <a:ext cx="10058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4285F4"/>
                </a:solidFill>
                <a:latin typeface="Aptos"/>
              </a:rPr>
              <a:t>AI request</a:t>
            </a:r>
            <a:endParaRPr lang="en-US" sz="800"/>
          </a:p>
        </p:txBody>
      </p:sp>
      <p:cxnSp>
        <p:nvCxnSpPr>
          <p:cNvPr id="8" name="Connector 8"/>
          <p:cNvCxnSpPr/>
          <p:nvPr/>
        </p:nvCxnSpPr>
        <p:spPr>
          <a:xfrm flipV="1">
            <a:off x="9372600" y="1225296"/>
            <a:ext cx="411479" cy="512063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9" name="Connector 9"/>
          <p:cNvCxnSpPr/>
          <p:nvPr/>
        </p:nvCxnSpPr>
        <p:spPr>
          <a:xfrm>
            <a:off x="9372600" y="1828800"/>
            <a:ext cx="411479" cy="402335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10" name="Connector 10"/>
          <p:cNvCxnSpPr/>
          <p:nvPr/>
        </p:nvCxnSpPr>
        <p:spPr>
          <a:xfrm>
            <a:off x="8412480" y="2148840"/>
            <a:ext cx="9144" cy="1051560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1010" name="Shape 1010"/>
          <p:cNvSpPr/>
          <p:nvPr/>
        </p:nvSpPr>
        <p:spPr>
          <a:xfrm>
            <a:off x="7909559" y="2546603"/>
            <a:ext cx="10058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4285F4"/>
                </a:solidFill>
                <a:latin typeface="Aptos"/>
              </a:rPr>
              <a:t>ingest</a:t>
            </a:r>
            <a:endParaRPr lang="en-US" sz="800"/>
          </a:p>
        </p:txBody>
      </p:sp>
      <p:cxnSp>
        <p:nvCxnSpPr>
          <p:cNvPr id="11" name="Connector 11"/>
          <p:cNvCxnSpPr/>
          <p:nvPr/>
        </p:nvCxnSpPr>
        <p:spPr>
          <a:xfrm>
            <a:off x="9281160" y="3557016"/>
            <a:ext cx="54863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13" name="Shape 1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SYSTEM MAP</a:t>
            </a:r>
            <a:endParaRPr lang="en-US" sz="800"/>
          </a:p>
        </p:txBody>
      </p:sp>
      <p:sp>
        <p:nvSpPr>
          <p:cNvPr id="14" name="Shape 1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Multi-Cloud Architecture</a:t>
            </a:r>
            <a:endParaRPr lang="en-US" sz="2400"/>
          </a:p>
        </p:txBody>
      </p:sp>
      <p:sp>
        <p:nvSpPr>
          <p:cNvPr id="15" name="Shape 1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04 / 20</a:t>
            </a:r>
            <a:endParaRPr lang="en-US" sz="800"/>
          </a:p>
        </p:txBody>
      </p:sp>
      <p:sp>
        <p:nvSpPr>
          <p:cNvPr id="16" name="Shape 1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17" name="Shape 17"/>
          <p:cNvSpPr/>
          <p:nvPr/>
        </p:nvSpPr>
        <p:spPr>
          <a:xfrm>
            <a:off x="731520" y="1463040"/>
            <a:ext cx="155448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94A3B8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Browser</a:t>
            </a:r>
            <a:endParaRPr lang="en-US" sz="1500"/>
          </a:p>
        </p:txBody>
      </p:sp>
      <p:sp>
        <p:nvSpPr>
          <p:cNvPr id="18" name="Shape 18"/>
          <p:cNvSpPr/>
          <p:nvPr/>
        </p:nvSpPr>
        <p:spPr>
          <a:xfrm>
            <a:off x="2743200" y="1463040"/>
            <a:ext cx="1737360" cy="640080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CloudFront</a:t>
            </a:r>
            <a:endParaRPr lang="en-US" sz="1300"/>
          </a:p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HTTPS CDN</a:t>
            </a:r>
            <a:endParaRPr lang="en-US" sz="1300"/>
          </a:p>
        </p:txBody>
      </p:sp>
      <p:sp>
        <p:nvSpPr>
          <p:cNvPr id="19" name="Shape 19"/>
          <p:cNvSpPr/>
          <p:nvPr/>
        </p:nvSpPr>
        <p:spPr>
          <a:xfrm>
            <a:off x="4937760" y="1463040"/>
            <a:ext cx="1920240" cy="640080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S3</a:t>
            </a:r>
            <a:endParaRPr lang="en-US" sz="1300"/>
          </a:p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React + Vite assets</a:t>
            </a:r>
            <a:endParaRPr lang="en-US" sz="1300"/>
          </a:p>
        </p:txBody>
      </p:sp>
      <p:sp>
        <p:nvSpPr>
          <p:cNvPr id="20" name="Shape 20"/>
          <p:cNvSpPr/>
          <p:nvPr/>
        </p:nvSpPr>
        <p:spPr>
          <a:xfrm>
            <a:off x="1005840" y="3749039"/>
            <a:ext cx="1645920" cy="658368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API Gateway</a:t>
            </a:r>
            <a:endParaRPr lang="en-US" sz="1300"/>
          </a:p>
        </p:txBody>
      </p:sp>
      <p:sp>
        <p:nvSpPr>
          <p:cNvPr id="21" name="Shape 21"/>
          <p:cNvSpPr/>
          <p:nvPr/>
        </p:nvSpPr>
        <p:spPr>
          <a:xfrm>
            <a:off x="3108960" y="3749039"/>
            <a:ext cx="1417320" cy="658368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Lambda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4892040" y="3749039"/>
            <a:ext cx="1600200" cy="658368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DynamoDB</a:t>
            </a:r>
            <a:endParaRPr lang="en-US" sz="1300"/>
          </a:p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visits</a:t>
            </a:r>
            <a:endParaRPr lang="en-US" sz="1300"/>
          </a:p>
        </p:txBody>
      </p:sp>
      <p:sp>
        <p:nvSpPr>
          <p:cNvPr id="23" name="Shape 23"/>
          <p:cNvSpPr/>
          <p:nvPr/>
        </p:nvSpPr>
        <p:spPr>
          <a:xfrm>
            <a:off x="7406640" y="1325880"/>
            <a:ext cx="1965960" cy="822960"/>
          </a:xfrm>
          <a:prstGeom prst="roundRect">
            <a:avLst/>
          </a:prstGeom>
          <a:solidFill>
            <a:srgbClr val="111D32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Cloud Run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FastAPI</a:t>
            </a:r>
            <a:endParaRPr lang="en-US" sz="1500"/>
          </a:p>
        </p:txBody>
      </p:sp>
      <p:sp>
        <p:nvSpPr>
          <p:cNvPr id="24" name="Shape 24"/>
          <p:cNvSpPr/>
          <p:nvPr/>
        </p:nvSpPr>
        <p:spPr>
          <a:xfrm>
            <a:off x="9784080" y="868680"/>
            <a:ext cx="1737360" cy="713232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Firestore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conversations</a:t>
            </a:r>
            <a:endParaRPr lang="en-US" sz="1200"/>
          </a:p>
        </p:txBody>
      </p:sp>
      <p:sp>
        <p:nvSpPr>
          <p:cNvPr id="25" name="Shape 25"/>
          <p:cNvSpPr/>
          <p:nvPr/>
        </p:nvSpPr>
        <p:spPr>
          <a:xfrm>
            <a:off x="9784080" y="1874519"/>
            <a:ext cx="1737360" cy="713232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Firestore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document_chunks</a:t>
            </a:r>
            <a:endParaRPr lang="en-US" sz="1200"/>
          </a:p>
        </p:txBody>
      </p:sp>
      <p:sp>
        <p:nvSpPr>
          <p:cNvPr id="26" name="Shape 26"/>
          <p:cNvSpPr/>
          <p:nvPr/>
        </p:nvSpPr>
        <p:spPr>
          <a:xfrm>
            <a:off x="7543800" y="3200400"/>
            <a:ext cx="1783080" cy="713232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Cloud Storage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Markdown docs</a:t>
            </a:r>
            <a:endParaRPr lang="en-US" sz="1200"/>
          </a:p>
        </p:txBody>
      </p:sp>
      <p:sp>
        <p:nvSpPr>
          <p:cNvPr id="27" name="Shape 27"/>
          <p:cNvSpPr/>
          <p:nvPr/>
        </p:nvSpPr>
        <p:spPr>
          <a:xfrm>
            <a:off x="9829800" y="3200400"/>
            <a:ext cx="1691640" cy="713232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Vertex AI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Gemini + Embeddings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V="1">
            <a:off x="2560320" y="1463040"/>
            <a:ext cx="411480" cy="320039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>
            <a:off x="2560320" y="1783080"/>
            <a:ext cx="411480" cy="612648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4" name="Connector 4"/>
          <p:cNvCxnSpPr/>
          <p:nvPr/>
        </p:nvCxnSpPr>
        <p:spPr>
          <a:xfrm>
            <a:off x="2560320" y="1783080"/>
            <a:ext cx="411480" cy="1554480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5" name="Connector 5"/>
          <p:cNvCxnSpPr/>
          <p:nvPr/>
        </p:nvCxnSpPr>
        <p:spPr>
          <a:xfrm flipV="1">
            <a:off x="4800600" y="1444752"/>
            <a:ext cx="685800" cy="950976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6" name="Connector 6"/>
          <p:cNvCxnSpPr/>
          <p:nvPr/>
        </p:nvCxnSpPr>
        <p:spPr>
          <a:xfrm>
            <a:off x="4800600" y="1463040"/>
            <a:ext cx="685800" cy="932688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7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REACT APP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Frontend Architecture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05 / 20</a:t>
            </a:r>
            <a:endParaRPr lang="en-US" sz="800"/>
          </a:p>
        </p:txBody>
      </p:sp>
      <p:sp>
        <p:nvSpPr>
          <p:cNvPr id="11" name="Shape 11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12" name="Shape 12"/>
          <p:cNvSpPr/>
          <p:nvPr/>
        </p:nvSpPr>
        <p:spPr>
          <a:xfrm>
            <a:off x="731520" y="1417320"/>
            <a:ext cx="182880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Home.jsx</a:t>
            </a:r>
            <a:endParaRPr lang="en-US" sz="1300"/>
          </a:p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page orchestration</a:t>
            </a:r>
            <a:endParaRPr lang="en-US" sz="1300"/>
          </a:p>
        </p:txBody>
      </p:sp>
      <p:sp>
        <p:nvSpPr>
          <p:cNvPr id="13" name="Shape 13"/>
          <p:cNvSpPr/>
          <p:nvPr/>
        </p:nvSpPr>
        <p:spPr>
          <a:xfrm>
            <a:off x="2971800" y="1097280"/>
            <a:ext cx="1828800" cy="6858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content/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portfolioContent.js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2971800" y="2057400"/>
            <a:ext cx="1828800" cy="6858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hooks/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useAssistantChat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2971800" y="3017520"/>
            <a:ext cx="1828800" cy="6858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api/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chat.js + visitors.js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5486400" y="1097280"/>
            <a:ext cx="1920240" cy="68580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ChatPanel.jsx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streaming UI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5486400" y="2057400"/>
            <a:ext cx="1920240" cy="68580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ProjectModal.jsx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4-tab docs view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5486400" y="3017520"/>
            <a:ext cx="1920240" cy="68580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PortfolioCaseStudies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wide case-study cards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8092440" y="1417320"/>
            <a:ext cx="2468880" cy="10058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200">
                <a:solidFill>
                  <a:srgbClr val="94A3B8"/>
                </a:solidFill>
                <a:latin typeface="Aptos"/>
              </a:rPr>
              <a:t>UI behavior</a:t>
            </a:r>
            <a:endParaRPr lang="en-US" sz="1200"/>
          </a:p>
          <a:p>
            <a:pPr algn="l" marL="0" indent="0">
              <a:buNone/>
            </a:pPr>
            <a:r>
              <a:rPr lang="en-US" sz="1200">
                <a:solidFill>
                  <a:srgbClr val="94A3B8"/>
                </a:solidFill>
                <a:latin typeface="Aptos"/>
              </a:rPr>
              <a:t>Traditional Chinese default, EN switch, dark/light mode, scroll tracking</a:t>
            </a:r>
            <a:endParaRPr lang="en-US" sz="1200"/>
          </a:p>
        </p:txBody>
      </p:sp>
      <p:sp>
        <p:nvSpPr>
          <p:cNvPr id="20" name="Shape 20"/>
          <p:cNvSpPr/>
          <p:nvPr/>
        </p:nvSpPr>
        <p:spPr>
          <a:xfrm>
            <a:off x="8092440" y="2880360"/>
            <a:ext cx="2468880" cy="10058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200">
                <a:solidFill>
                  <a:srgbClr val="94A3B8"/>
                </a:solidFill>
                <a:latin typeface="Aptos"/>
              </a:rPr>
              <a:t>Assistant behavior</a:t>
            </a:r>
            <a:endParaRPr lang="en-US" sz="1200"/>
          </a:p>
          <a:p>
            <a:pPr algn="l" marL="0" indent="0">
              <a:buNone/>
            </a:pPr>
            <a:r>
              <a:rPr lang="en-US" sz="1200">
                <a:solidFill>
                  <a:srgbClr val="94A3B8"/>
                </a:solidFill>
                <a:latin typeface="Aptos"/>
              </a:rPr>
              <a:t>/ask-rag-stream first, /ask-rag fallback, session_id in localStorage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2560320" y="1737360"/>
            <a:ext cx="411480" cy="1234440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 flipV="1">
            <a:off x="4617720" y="2011680"/>
            <a:ext cx="777240" cy="960119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4" name="Connector 4"/>
          <p:cNvCxnSpPr/>
          <p:nvPr/>
        </p:nvCxnSpPr>
        <p:spPr>
          <a:xfrm flipV="1">
            <a:off x="7315200" y="1060704"/>
            <a:ext cx="685800" cy="950976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5" name="Connector 5"/>
          <p:cNvCxnSpPr/>
          <p:nvPr/>
        </p:nvCxnSpPr>
        <p:spPr>
          <a:xfrm flipV="1">
            <a:off x="7315200" y="1920240"/>
            <a:ext cx="685800" cy="91440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6" name="Connector 6"/>
          <p:cNvCxnSpPr/>
          <p:nvPr/>
        </p:nvCxnSpPr>
        <p:spPr>
          <a:xfrm>
            <a:off x="7315200" y="2011680"/>
            <a:ext cx="685800" cy="777239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7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CLOUD RUN SERVICE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Backend Architecture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06 / 20</a:t>
            </a:r>
            <a:endParaRPr lang="en-US" sz="800"/>
          </a:p>
        </p:txBody>
      </p:sp>
      <p:sp>
        <p:nvSpPr>
          <p:cNvPr id="11" name="Shape 11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12" name="Shape 12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main.py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FastAPI app + CORS + routers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2971800" y="1005840"/>
            <a:ext cx="164592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routes/health.py</a:t>
            </a:r>
            <a:endParaRPr lang="en-US" sz="1100"/>
          </a:p>
        </p:txBody>
      </p:sp>
      <p:sp>
        <p:nvSpPr>
          <p:cNvPr id="14" name="Shape 14"/>
          <p:cNvSpPr/>
          <p:nvPr/>
        </p:nvSpPr>
        <p:spPr>
          <a:xfrm>
            <a:off x="2971800" y="1828800"/>
            <a:ext cx="164592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routes/chat.py</a:t>
            </a:r>
            <a:endParaRPr lang="en-US" sz="1100"/>
          </a:p>
        </p:txBody>
      </p:sp>
      <p:sp>
        <p:nvSpPr>
          <p:cNvPr id="15" name="Shape 15"/>
          <p:cNvSpPr/>
          <p:nvPr/>
        </p:nvSpPr>
        <p:spPr>
          <a:xfrm>
            <a:off x="2971800" y="2651760"/>
            <a:ext cx="164592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routes/rag.py</a:t>
            </a:r>
            <a:endParaRPr lang="en-US" sz="1100"/>
          </a:p>
        </p:txBody>
      </p:sp>
      <p:sp>
        <p:nvSpPr>
          <p:cNvPr id="16" name="Shape 16"/>
          <p:cNvSpPr/>
          <p:nvPr/>
        </p:nvSpPr>
        <p:spPr>
          <a:xfrm>
            <a:off x="5394960" y="868680"/>
            <a:ext cx="1920240" cy="658368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settings.py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runtime config</a:t>
            </a:r>
            <a:endParaRPr lang="en-US" sz="1100"/>
          </a:p>
        </p:txBody>
      </p:sp>
      <p:sp>
        <p:nvSpPr>
          <p:cNvPr id="17" name="Shape 17"/>
          <p:cNvSpPr/>
          <p:nvPr/>
        </p:nvSpPr>
        <p:spPr>
          <a:xfrm>
            <a:off x="5394960" y="1691640"/>
            <a:ext cx="1920240" cy="658368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rag_service.py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orchestration</a:t>
            </a:r>
            <a:endParaRPr lang="en-US" sz="1100"/>
          </a:p>
        </p:txBody>
      </p:sp>
      <p:sp>
        <p:nvSpPr>
          <p:cNvPr id="18" name="Shape 18"/>
          <p:cNvSpPr/>
          <p:nvPr/>
        </p:nvSpPr>
        <p:spPr>
          <a:xfrm>
            <a:off x="5394960" y="2514600"/>
            <a:ext cx="1920240" cy="658368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vector_service.py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scoring + top-k</a:t>
            </a:r>
            <a:endParaRPr lang="en-US" sz="1100"/>
          </a:p>
        </p:txBody>
      </p:sp>
      <p:sp>
        <p:nvSpPr>
          <p:cNvPr id="19" name="Shape 19"/>
          <p:cNvSpPr/>
          <p:nvPr/>
        </p:nvSpPr>
        <p:spPr>
          <a:xfrm>
            <a:off x="8001000" y="731520"/>
            <a:ext cx="192024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gemini_service.py</a:t>
            </a:r>
            <a:endParaRPr lang="en-US" sz="1100"/>
          </a:p>
        </p:txBody>
      </p:sp>
      <p:sp>
        <p:nvSpPr>
          <p:cNvPr id="20" name="Shape 20"/>
          <p:cNvSpPr/>
          <p:nvPr/>
        </p:nvSpPr>
        <p:spPr>
          <a:xfrm>
            <a:off x="8001000" y="1600200"/>
            <a:ext cx="192024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firestore_service.py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8001000" y="2468880"/>
            <a:ext cx="192024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gcs_service.py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8001000" y="3337560"/>
            <a:ext cx="1920240" cy="65836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ingestion_service.py</a:t>
            </a:r>
            <a:endParaRPr lang="en-US" sz="1100"/>
          </a:p>
        </p:txBody>
      </p:sp>
      <p:sp>
        <p:nvSpPr>
          <p:cNvPr id="23" name="Shape 23"/>
          <p:cNvSpPr/>
          <p:nvPr/>
        </p:nvSpPr>
        <p:spPr>
          <a:xfrm>
            <a:off x="822960" y="4800600"/>
            <a:ext cx="9326880" cy="621792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94A3B8"/>
                </a:solidFill>
                <a:latin typeface="Aptos"/>
              </a:rPr>
              <a:t>Pattern: request → route → service → provider/client. Cloud Run entrypoint remains main:app.</a:t>
            </a:r>
            <a:endParaRPr lang="en-US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1783080" y="2148840"/>
            <a:ext cx="27432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>
            <a:off x="3291840" y="2148840"/>
            <a:ext cx="27431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4" name="Connector 4"/>
          <p:cNvCxnSpPr/>
          <p:nvPr/>
        </p:nvCxnSpPr>
        <p:spPr>
          <a:xfrm>
            <a:off x="4800600" y="2148840"/>
            <a:ext cx="27431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5" name="Connector 5"/>
          <p:cNvCxnSpPr/>
          <p:nvPr/>
        </p:nvCxnSpPr>
        <p:spPr>
          <a:xfrm>
            <a:off x="6309360" y="2148840"/>
            <a:ext cx="27431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6" name="Connector 6"/>
          <p:cNvCxnSpPr/>
          <p:nvPr/>
        </p:nvCxnSpPr>
        <p:spPr>
          <a:xfrm>
            <a:off x="7818120" y="2148840"/>
            <a:ext cx="27431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7" name="Connector 7"/>
          <p:cNvCxnSpPr/>
          <p:nvPr/>
        </p:nvCxnSpPr>
        <p:spPr>
          <a:xfrm>
            <a:off x="9326880" y="2148840"/>
            <a:ext cx="27432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8" name="Connector 8"/>
          <p:cNvCxnSpPr/>
          <p:nvPr/>
        </p:nvCxnSpPr>
        <p:spPr>
          <a:xfrm flipV="1">
            <a:off x="2651760" y="2468880"/>
            <a:ext cx="9144" cy="1371600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9" name="Connector 9"/>
          <p:cNvCxnSpPr/>
          <p:nvPr/>
        </p:nvCxnSpPr>
        <p:spPr>
          <a:xfrm flipV="1">
            <a:off x="7040880" y="2468880"/>
            <a:ext cx="9144" cy="1371600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0" name="Connector 10"/>
          <p:cNvCxnSpPr/>
          <p:nvPr/>
        </p:nvCxnSpPr>
        <p:spPr>
          <a:xfrm>
            <a:off x="9006840" y="2468880"/>
            <a:ext cx="457200" cy="1371600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RETRIEVAL SEQUENCE</a:t>
            </a:r>
            <a:endParaRPr lang="en-US" sz="800"/>
          </a:p>
        </p:txBody>
      </p:sp>
      <p:sp>
        <p:nvSpPr>
          <p:cNvPr id="13" name="Shape 13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RAG Workflow</a:t>
            </a:r>
            <a:endParaRPr lang="en-US" sz="2400"/>
          </a:p>
        </p:txBody>
      </p:sp>
      <p:sp>
        <p:nvSpPr>
          <p:cNvPr id="14" name="Shape 14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07 / 20</a:t>
            </a:r>
            <a:endParaRPr lang="en-US" sz="800"/>
          </a:p>
        </p:txBody>
      </p:sp>
      <p:sp>
        <p:nvSpPr>
          <p:cNvPr id="15" name="Shape 15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16" name="Shape 16"/>
          <p:cNvSpPr/>
          <p:nvPr/>
        </p:nvSpPr>
        <p:spPr>
          <a:xfrm>
            <a:off x="54864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Question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+ session_id</a:t>
            </a:r>
            <a:endParaRPr lang="en-US" sz="1100"/>
          </a:p>
        </p:txBody>
      </p:sp>
      <p:sp>
        <p:nvSpPr>
          <p:cNvPr id="17" name="Shape 17"/>
          <p:cNvSpPr/>
          <p:nvPr/>
        </p:nvSpPr>
        <p:spPr>
          <a:xfrm>
            <a:off x="205740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Load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history</a:t>
            </a:r>
            <a:endParaRPr lang="en-US" sz="1100"/>
          </a:p>
        </p:txBody>
      </p:sp>
      <p:sp>
        <p:nvSpPr>
          <p:cNvPr id="18" name="Shape 18"/>
          <p:cNvSpPr/>
          <p:nvPr/>
        </p:nvSpPr>
        <p:spPr>
          <a:xfrm>
            <a:off x="356616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8B5CF6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Optional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rewrite</a:t>
            </a:r>
            <a:endParaRPr lang="en-US" sz="1100"/>
          </a:p>
        </p:txBody>
      </p:sp>
      <p:sp>
        <p:nvSpPr>
          <p:cNvPr id="19" name="Shape 19"/>
          <p:cNvSpPr/>
          <p:nvPr/>
        </p:nvSpPr>
        <p:spPr>
          <a:xfrm>
            <a:off x="507492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Embed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query</a:t>
            </a:r>
            <a:endParaRPr lang="en-US" sz="1100"/>
          </a:p>
        </p:txBody>
      </p:sp>
      <p:sp>
        <p:nvSpPr>
          <p:cNvPr id="20" name="Shape 20"/>
          <p:cNvSpPr/>
          <p:nvPr/>
        </p:nvSpPr>
        <p:spPr>
          <a:xfrm>
            <a:off x="658368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Score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chunks</a:t>
            </a:r>
            <a:endParaRPr lang="en-US" sz="1100"/>
          </a:p>
        </p:txBody>
      </p:sp>
      <p:sp>
        <p:nvSpPr>
          <p:cNvPr id="21" name="Shape 21"/>
          <p:cNvSpPr/>
          <p:nvPr/>
        </p:nvSpPr>
        <p:spPr>
          <a:xfrm>
            <a:off x="809244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Select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sources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9601200" y="1828800"/>
            <a:ext cx="12344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Gemini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answer</a:t>
            </a:r>
            <a:endParaRPr lang="en-US" sz="1100"/>
          </a:p>
        </p:txBody>
      </p:sp>
      <p:sp>
        <p:nvSpPr>
          <p:cNvPr id="23" name="Shape 23"/>
          <p:cNvSpPr/>
          <p:nvPr/>
        </p:nvSpPr>
        <p:spPr>
          <a:xfrm>
            <a:off x="1280160" y="3840480"/>
            <a:ext cx="1828800" cy="68580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Firestore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conversations</a:t>
            </a:r>
            <a:endParaRPr lang="en-US" sz="1200"/>
          </a:p>
        </p:txBody>
      </p:sp>
      <p:sp>
        <p:nvSpPr>
          <p:cNvPr id="24" name="Shape 24"/>
          <p:cNvSpPr/>
          <p:nvPr/>
        </p:nvSpPr>
        <p:spPr>
          <a:xfrm>
            <a:off x="6126480" y="3840480"/>
            <a:ext cx="1828800" cy="68580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Firestore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document_chunks</a:t>
            </a:r>
            <a:endParaRPr lang="en-US" sz="1200"/>
          </a:p>
        </p:txBody>
      </p:sp>
      <p:sp>
        <p:nvSpPr>
          <p:cNvPr id="25" name="Shape 25"/>
          <p:cNvSpPr/>
          <p:nvPr/>
        </p:nvSpPr>
        <p:spPr>
          <a:xfrm>
            <a:off x="8778240" y="3840480"/>
            <a:ext cx="1828800" cy="68580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Sources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[S1] [S2] [S3]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303520" y="3291840"/>
            <a:ext cx="109728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1002" name="Shape 1002"/>
          <p:cNvSpPr/>
          <p:nvPr/>
        </p:nvSpPr>
        <p:spPr>
          <a:xfrm>
            <a:off x="5349240" y="3163824"/>
            <a:ext cx="10058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4285F4"/>
                </a:solidFill>
                <a:latin typeface="Aptos"/>
              </a:rPr>
              <a:t>session_id</a:t>
            </a:r>
            <a:endParaRPr lang="en-US" sz="800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4" name="Shape 4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DATA MODEL</a:t>
            </a:r>
            <a:endParaRPr lang="en-US" sz="800"/>
          </a:p>
        </p:txBody>
      </p:sp>
      <p:sp>
        <p:nvSpPr>
          <p:cNvPr id="5" name="Shape 5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Firestore Schema</a:t>
            </a:r>
            <a:endParaRPr lang="en-US" sz="2400"/>
          </a:p>
        </p:txBody>
      </p:sp>
      <p:sp>
        <p:nvSpPr>
          <p:cNvPr id="6" name="Shape 6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08 / 20</a:t>
            </a:r>
            <a:endParaRPr lang="en-US" sz="800"/>
          </a:p>
        </p:txBody>
      </p:sp>
      <p:sp>
        <p:nvSpPr>
          <p:cNvPr id="7" name="Shape 7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8" name="Shape 8"/>
          <p:cNvSpPr/>
          <p:nvPr/>
        </p:nvSpPr>
        <p:spPr>
          <a:xfrm>
            <a:off x="914400" y="1234440"/>
            <a:ext cx="4389120" cy="4160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document_chunks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file_name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chunk_index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chunk_text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embedding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content_hash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heading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char_count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6400800" y="1234440"/>
            <a:ext cx="4389120" cy="4160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conversations/{session_id}/messages/{message_id}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user: content, created_at, request_id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assistant: content, created_at, request_id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system: event_type=query_rewrite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original_question + rewritten_query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system messages hidden from frontend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2651760" y="1737360"/>
            <a:ext cx="32004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>
            <a:off x="4800600" y="1737360"/>
            <a:ext cx="54863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4" name="Connector 4"/>
          <p:cNvCxnSpPr/>
          <p:nvPr/>
        </p:nvCxnSpPr>
        <p:spPr>
          <a:xfrm>
            <a:off x="7178040" y="1737360"/>
            <a:ext cx="36576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5" name="Connector 5"/>
          <p:cNvCxnSpPr/>
          <p:nvPr/>
        </p:nvCxnSpPr>
        <p:spPr>
          <a:xfrm>
            <a:off x="9372600" y="1737360"/>
            <a:ext cx="36576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6" name="Connector 6"/>
          <p:cNvCxnSpPr/>
          <p:nvPr/>
        </p:nvCxnSpPr>
        <p:spPr>
          <a:xfrm flipH="1">
            <a:off x="2743200" y="2057400"/>
            <a:ext cx="5440679" cy="1280160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006" name="Shape 1006"/>
          <p:cNvSpPr/>
          <p:nvPr/>
        </p:nvSpPr>
        <p:spPr>
          <a:xfrm>
            <a:off x="4960620" y="2569464"/>
            <a:ext cx="10058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94A3B8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SSE events</a:t>
            </a:r>
            <a:endParaRPr lang="en-US" sz="800"/>
          </a:p>
        </p:txBody>
      </p:sp>
      <p:sp>
        <p:nvSpPr>
          <p:cNvPr id="7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SSE PATH</a:t>
            </a:r>
            <a:endParaRPr lang="en-US" sz="800"/>
          </a:p>
        </p:txBody>
      </p:sp>
      <p:sp>
        <p:nvSpPr>
          <p:cNvPr id="9" name="Shape 9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Streaming Response Architecture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09 / 20</a:t>
            </a:r>
            <a:endParaRPr lang="en-US" sz="800"/>
          </a:p>
        </p:txBody>
      </p:sp>
      <p:sp>
        <p:nvSpPr>
          <p:cNvPr id="11" name="Shape 11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12" name="Shape 12"/>
          <p:cNvSpPr/>
          <p:nvPr/>
        </p:nvSpPr>
        <p:spPr>
          <a:xfrm>
            <a:off x="822960" y="1417320"/>
            <a:ext cx="182880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8FAFC"/>
                </a:solidFill>
                <a:latin typeface="Aptos"/>
              </a:rPr>
              <a:t>ChatPanel.jsx</a:t>
            </a:r>
            <a:endParaRPr lang="en-US" sz="1300"/>
          </a:p>
        </p:txBody>
      </p:sp>
      <p:sp>
        <p:nvSpPr>
          <p:cNvPr id="13" name="Shape 13"/>
          <p:cNvSpPr/>
          <p:nvPr/>
        </p:nvSpPr>
        <p:spPr>
          <a:xfrm>
            <a:off x="2971800" y="1417320"/>
            <a:ext cx="182880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streamAskRag()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ReadableStream parser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5349240" y="1417320"/>
            <a:ext cx="182880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POST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/ask-rag-stream</a:t>
            </a:r>
            <a:endParaRPr lang="en-US" sz="1200"/>
          </a:p>
        </p:txBody>
      </p:sp>
      <p:sp>
        <p:nvSpPr>
          <p:cNvPr id="15" name="Shape 15"/>
          <p:cNvSpPr/>
          <p:nvPr/>
        </p:nvSpPr>
        <p:spPr>
          <a:xfrm>
            <a:off x="7543800" y="1417320"/>
            <a:ext cx="182880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rag_service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stream_answer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9738360" y="1417320"/>
            <a:ext cx="164592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Gemini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stream_text</a:t>
            </a:r>
            <a:endParaRPr lang="en-US" sz="1200"/>
          </a:p>
        </p:txBody>
      </p:sp>
      <p:sp>
        <p:nvSpPr>
          <p:cNvPr id="17" name="Shape 17"/>
          <p:cNvSpPr/>
          <p:nvPr/>
        </p:nvSpPr>
        <p:spPr>
          <a:xfrm>
            <a:off x="1828800" y="3337560"/>
            <a:ext cx="1828800" cy="6400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metadata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session + sources</a:t>
            </a:r>
            <a:endParaRPr lang="en-US" sz="1200"/>
          </a:p>
        </p:txBody>
      </p:sp>
      <p:sp>
        <p:nvSpPr>
          <p:cNvPr id="18" name="Shape 18"/>
          <p:cNvSpPr/>
          <p:nvPr/>
        </p:nvSpPr>
        <p:spPr>
          <a:xfrm>
            <a:off x="4069080" y="3337560"/>
            <a:ext cx="1828800" cy="6400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token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partial answer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6309360" y="3337560"/>
            <a:ext cx="1828800" cy="6400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done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complete</a:t>
            </a:r>
            <a:endParaRPr lang="en-US" sz="1200"/>
          </a:p>
        </p:txBody>
      </p:sp>
      <p:sp>
        <p:nvSpPr>
          <p:cNvPr id="20" name="Shape 20"/>
          <p:cNvSpPr/>
          <p:nvPr/>
        </p:nvSpPr>
        <p:spPr>
          <a:xfrm>
            <a:off x="8549640" y="3337560"/>
            <a:ext cx="1828800" cy="64008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EA433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error</a:t>
            </a:r>
            <a:endParaRPr lang="en-US" sz="1200"/>
          </a:p>
          <a:p>
            <a:pPr algn="ctr" marL="0" indent="0">
              <a:buNone/>
            </a:pPr>
            <a:r>
              <a:rPr lang="en-US" sz="1200" b="1">
                <a:solidFill>
                  <a:srgbClr val="F8FAFC"/>
                </a:solidFill>
                <a:latin typeface="Aptos"/>
              </a:rPr>
              <a:t>controlled fallback</a:t>
            </a:r>
            <a:endParaRPr lang="en-US" sz="1200"/>
          </a:p>
        </p:txBody>
      </p:sp>
      <p:sp>
        <p:nvSpPr>
          <p:cNvPr id="21" name="Shape 21"/>
          <p:cNvSpPr/>
          <p:nvPr/>
        </p:nvSpPr>
        <p:spPr>
          <a:xfrm>
            <a:off x="1005840" y="4800600"/>
            <a:ext cx="9601200" cy="59436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94A3B8"/>
                </a:solidFill>
                <a:latin typeface="Aptos"/>
              </a:rPr>
              <a:t>Frontend tries streaming first and preserves /ask-rag fallback if streaming fails.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BUILD HISTORY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Development Timeline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10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Chronological evolution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May 22-24: React + Vite portfolio, bilingual UI, dark/light mode, project modals.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May 25: AWS visitor counter through API Gateway, Lambda, and DynamoDB.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May 28: production-style frontend modularization and GCP RAG pivot.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June 3-4: backend service extraction, route modules, chunk metadata, improved retrieval.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June 5-6: streaming, Firestore memory, CORS fix, protected ingestion, query rewriting.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6400800" y="1554480"/>
            <a:ext cx="4114800" cy="50292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Foundation → Integration → Hardening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400800" y="2514600"/>
            <a:ext cx="96012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4285F4"/>
                </a:solidFill>
                <a:latin typeface="Aptos"/>
              </a:rPr>
              <a:t>UI</a:t>
            </a:r>
            <a:endParaRPr lang="en-US" sz="1300"/>
          </a:p>
        </p:txBody>
      </p:sp>
      <p:sp>
        <p:nvSpPr>
          <p:cNvPr id="10" name="Shape 10"/>
          <p:cNvSpPr/>
          <p:nvPr/>
        </p:nvSpPr>
        <p:spPr>
          <a:xfrm>
            <a:off x="7498079" y="2514600"/>
            <a:ext cx="96012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FF9900"/>
                </a:solidFill>
                <a:latin typeface="Aptos"/>
              </a:rPr>
              <a:t>AWS</a:t>
            </a:r>
            <a:endParaRPr lang="en-US" sz="1300"/>
          </a:p>
        </p:txBody>
      </p:sp>
      <p:sp>
        <p:nvSpPr>
          <p:cNvPr id="11" name="Shape 11"/>
          <p:cNvSpPr/>
          <p:nvPr/>
        </p:nvSpPr>
        <p:spPr>
          <a:xfrm>
            <a:off x="8595360" y="2514600"/>
            <a:ext cx="96012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4285F4"/>
                </a:solidFill>
                <a:latin typeface="Aptos"/>
              </a:rPr>
              <a:t>GCP</a:t>
            </a:r>
            <a:endParaRPr lang="en-US" sz="1300"/>
          </a:p>
        </p:txBody>
      </p:sp>
      <p:sp>
        <p:nvSpPr>
          <p:cNvPr id="12" name="Shape 12"/>
          <p:cNvSpPr/>
          <p:nvPr/>
        </p:nvSpPr>
        <p:spPr>
          <a:xfrm>
            <a:off x="9692640" y="2514600"/>
            <a:ext cx="96012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300" b="1">
                <a:solidFill>
                  <a:srgbClr val="34A853"/>
                </a:solidFill>
                <a:latin typeface="Aptos"/>
              </a:rPr>
              <a:t>RAG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3566160" y="2606040"/>
            <a:ext cx="105156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>
            <a:off x="7543800" y="2606040"/>
            <a:ext cx="1097279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4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MATURITY MODEL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RAG Evolution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11 / 20</a:t>
            </a:r>
            <a:endParaRPr lang="en-US" sz="800"/>
          </a:p>
        </p:txBody>
      </p:sp>
      <p:sp>
        <p:nvSpPr>
          <p:cNvPr id="8" name="Shape 8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9" name="Shape 9"/>
          <p:cNvSpPr/>
          <p:nvPr/>
        </p:nvSpPr>
        <p:spPr>
          <a:xfrm>
            <a:off x="822960" y="1463040"/>
            <a:ext cx="2743200" cy="22860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94A3B8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800" b="1">
                <a:solidFill>
                  <a:srgbClr val="F8FAFC"/>
                </a:solidFill>
                <a:latin typeface="Aptos"/>
              </a:rPr>
              <a:t>Naive RAG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chunk documents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embed text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retrieve top chunks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generate answer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4617720" y="1143000"/>
            <a:ext cx="2926080" cy="2926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800" b="1">
                <a:solidFill>
                  <a:srgbClr val="F8FAFC"/>
                </a:solidFill>
                <a:latin typeface="Aptos"/>
              </a:rPr>
              <a:t>Intermediate RAG today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Cloud Run FastAPI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Firestore chunks + conversations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source IDs and citations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streaming responses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query rewrite option</a:t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8641080" y="1463040"/>
            <a:ext cx="2743200" cy="22860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800" b="1">
                <a:solidFill>
                  <a:srgbClr val="F8FAFC"/>
                </a:solidFill>
                <a:latin typeface="Aptos"/>
              </a:rPr>
              <a:t>Advanced RAG roadmap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multi-query retrieval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citation validation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managed vector index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RAG eval gate</a:t>
            </a:r>
            <a:endParaRPr lang="en-US" sz="1800"/>
          </a:p>
          <a:p>
            <a:pPr algn="l" marL="342900" indent="-171450">
              <a:buChar char="•"/>
              <a:buFont typeface="Aptos"/>
            </a:pPr>
            <a:r>
              <a:rPr lang="en-US" sz="1800">
                <a:solidFill>
                  <a:srgbClr val="F8FAFC"/>
                </a:solidFill>
                <a:latin typeface="Aptos"/>
              </a:rPr>
              <a:t>GraphRAG / Agentic RAG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HARDENING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Security Improvements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12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Security and production guardrails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CORS allowlist includes local Vite origins and production CloudFront origin.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/ingest-docs requires X-Admin-Token backed by INGESTION_ADMIN_TOKEN.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Public /ask-rag and /ask-rag-stream remain unauthenticated for the portfolio assistant.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Structured logs avoid prompt text, document bodies, embeddings, or generated answer content.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Query rewrite audit messages are backend-only system records.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6400800" y="1554480"/>
            <a:ext cx="420624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Public path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/ask-rag-stream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400800" y="2743200"/>
            <a:ext cx="420624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EA433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Admin path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/ingest-docs + X-Admin-Token</a:t>
            </a:r>
            <a:endParaRPr lang="en-US" sz="1500"/>
          </a:p>
        </p:txBody>
      </p:sp>
      <p:sp>
        <p:nvSpPr>
          <p:cNvPr id="10" name="Shape 10"/>
          <p:cNvSpPr/>
          <p:nvPr/>
        </p:nvSpPr>
        <p:spPr>
          <a:xfrm>
            <a:off x="6400800" y="3931920"/>
            <a:ext cx="420624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CORS fix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CloudFront origin allowed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ENGINEERING TRADEOFFS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Challenges &amp; Solutions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13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Problems solved during implementation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AWS Bedrock/Lambda RAG complexity → pivoted AI backend to GCP while keeping AWS visitor counter.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Large frontend App.jsx → extracted content, hooks, API clients, components, and Home page orchestration.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Modal layout drift → normalized all tabs through shared project-tab-stack rendering.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CloudFront assistant failure → diagnosed CORS preflight and deployed backend allowlist fix.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Firestore history missing → redeployed active Cloud Run revision and verified conversations collection.</a:t>
            </a:r>
            <a:endParaRPr lang="en-US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ASSESSMENT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Current RAG Maturity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14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822960" y="1325880"/>
            <a:ext cx="4800600" cy="33832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Implemented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Cloud Run FastAPI backend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Gemini 2.5 Flash + text-embedding-005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Firestore document_chunks and conversations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Markdown-aware chunking and content hashes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Candidate pool, thresholds, hybrid scoring, reranking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Streaming responses and source IDs</a:t>
            </a:r>
            <a:endParaRPr lang="en-US" sz="1700"/>
          </a:p>
        </p:txBody>
      </p:sp>
      <p:sp>
        <p:nvSpPr>
          <p:cNvPr id="8" name="Shape 8"/>
          <p:cNvSpPr/>
          <p:nvPr/>
        </p:nvSpPr>
        <p:spPr>
          <a:xfrm>
            <a:off x="6400800" y="1325880"/>
            <a:ext cx="4800600" cy="33832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BBC0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Remaining gaps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Retrieval still scans Firestore in memory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No managed vector index yet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No multi-query retrieval yet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No real semantic reranker yet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No CI-based RAG evaluation gate yet</a:t>
            </a:r>
            <a:endParaRPr lang="en-US" sz="1700"/>
          </a:p>
          <a:p>
            <a:pPr algn="l" marL="342900" indent="-171450">
              <a:buChar char="•"/>
              <a:buFont typeface="Aptos"/>
            </a:pPr>
            <a:r>
              <a:rPr lang="en-US" sz="1700">
                <a:solidFill>
                  <a:srgbClr val="F8FAFC"/>
                </a:solidFill>
                <a:latin typeface="Aptos"/>
              </a:rPr>
              <a:t>No monitoring dashboard yet</a:t>
            </a:r>
            <a:endParaRPr lang="en-US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2560320" y="2450592"/>
            <a:ext cx="22860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3" name="Connector 3"/>
          <p:cNvCxnSpPr/>
          <p:nvPr/>
        </p:nvCxnSpPr>
        <p:spPr>
          <a:xfrm>
            <a:off x="4846320" y="2450592"/>
            <a:ext cx="22860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4" name="Connector 4"/>
          <p:cNvCxnSpPr/>
          <p:nvPr/>
        </p:nvCxnSpPr>
        <p:spPr>
          <a:xfrm>
            <a:off x="7132320" y="2450592"/>
            <a:ext cx="22860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cxnSp>
        <p:nvCxnSpPr>
          <p:cNvPr id="5" name="Connector 5"/>
          <p:cNvCxnSpPr/>
          <p:nvPr/>
        </p:nvCxnSpPr>
        <p:spPr>
          <a:xfrm>
            <a:off x="9418320" y="2450592"/>
            <a:ext cx="228600" cy="9144"/>
          </a:xfrm>
          <a:prstGeom prst="line">
            <a:avLst/>
          </a:prstGeom>
          <a:ln w="18000">
            <a:solidFill>
              <a:srgbClr val="4285F4"/>
            </a:solidFill>
            <a:tailEnd type="triangle"/>
          </a:ln>
        </p:spPr>
      </p:cxnSp>
      <p:sp>
        <p:nvSpPr>
          <p:cNvPr id="6" name="Shap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NEXT PHASES</a:t>
            </a:r>
            <a:endParaRPr lang="en-US" sz="800"/>
          </a:p>
        </p:txBody>
      </p:sp>
      <p:sp>
        <p:nvSpPr>
          <p:cNvPr id="8" name="Shape 8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Advanced RAG Roadmap</a:t>
            </a:r>
            <a:endParaRPr lang="en-US" sz="2400"/>
          </a:p>
        </p:txBody>
      </p:sp>
      <p:sp>
        <p:nvSpPr>
          <p:cNvPr id="9" name="Shape 9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15 / 20</a:t>
            </a:r>
            <a:endParaRPr lang="en-US" sz="800"/>
          </a:p>
        </p:txBody>
      </p:sp>
      <p:sp>
        <p:nvSpPr>
          <p:cNvPr id="10" name="Shape 10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11" name="Shape 11"/>
          <p:cNvSpPr/>
          <p:nvPr/>
        </p:nvSpPr>
        <p:spPr>
          <a:xfrm>
            <a:off x="502920" y="1828800"/>
            <a:ext cx="2057400" cy="12344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Phase 1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Quality quick wins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query rewrite, chunk overlap, citation validation</a:t>
            </a:r>
            <a:endParaRPr lang="en-US" sz="1100"/>
          </a:p>
        </p:txBody>
      </p:sp>
      <p:sp>
        <p:nvSpPr>
          <p:cNvPr id="12" name="Shape 12"/>
          <p:cNvSpPr/>
          <p:nvPr/>
        </p:nvSpPr>
        <p:spPr>
          <a:xfrm>
            <a:off x="2788920" y="1828800"/>
            <a:ext cx="2057400" cy="12344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Phase 2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Better retrieval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multi-query, metadata filters, no-answer confidence</a:t>
            </a:r>
            <a:endParaRPr lang="en-US" sz="1100"/>
          </a:p>
        </p:txBody>
      </p:sp>
      <p:sp>
        <p:nvSpPr>
          <p:cNvPr id="13" name="Shape 13"/>
          <p:cNvSpPr/>
          <p:nvPr/>
        </p:nvSpPr>
        <p:spPr>
          <a:xfrm>
            <a:off x="5074920" y="1828800"/>
            <a:ext cx="2057400" cy="12344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BBC0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Phase 3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Evaluation + observability</a:t>
            </a:r>
            <a:endParaRPr lang="en-US" sz="1100"/>
          </a:p>
          <a:p>
            <a:pPr algn="ctr" marL="0" indent="0">
              <a:buNone/>
            </a:pPr>
            <a:r>
              <a:rPr lang="en-US" sz="1100" b="1">
                <a:solidFill>
                  <a:srgbClr val="F8FAFC"/>
                </a:solidFill>
                <a:latin typeface="Aptos"/>
              </a:rPr>
              <a:t>CI RAG eval, analytics, monitoring</a:t>
            </a:r>
            <a:endParaRPr lang="en-US" sz="1100"/>
          </a:p>
        </p:txBody>
      </p:sp>
      <p:sp>
        <p:nvSpPr>
          <p:cNvPr id="14" name="Shape 14"/>
          <p:cNvSpPr/>
          <p:nvPr/>
        </p:nvSpPr>
        <p:spPr>
          <a:xfrm>
            <a:off x="7360920" y="1828800"/>
            <a:ext cx="2057400" cy="12344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000" b="1">
                <a:solidFill>
                  <a:srgbClr val="F8FAFC"/>
                </a:solidFill>
                <a:latin typeface="Aptos"/>
              </a:rPr>
              <a:t>Phase 4</a:t>
            </a:r>
            <a:endParaRPr lang="en-US" sz="1000"/>
          </a:p>
          <a:p>
            <a:pPr algn="ctr" marL="0" indent="0">
              <a:buNone/>
            </a:pPr>
            <a:r>
              <a:rPr lang="en-US" sz="1000" b="1">
                <a:solidFill>
                  <a:srgbClr val="F8FAFC"/>
                </a:solidFill>
                <a:latin typeface="Aptos"/>
              </a:rPr>
              <a:t>Managed vector retrieval</a:t>
            </a:r>
            <a:endParaRPr lang="en-US" sz="1000"/>
          </a:p>
          <a:p>
            <a:pPr algn="ctr" marL="0" indent="0">
              <a:buNone/>
            </a:pPr>
            <a:r>
              <a:rPr lang="en-US" sz="1000" b="1">
                <a:solidFill>
                  <a:srgbClr val="F8FAFC"/>
                </a:solidFill>
                <a:latin typeface="Aptos"/>
              </a:rPr>
              <a:t>Firestore Vector Search or Vertex AI Vector Search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9646920" y="1828800"/>
            <a:ext cx="2057400" cy="123444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000" b="1">
                <a:solidFill>
                  <a:srgbClr val="F8FAFC"/>
                </a:solidFill>
                <a:latin typeface="Aptos"/>
              </a:rPr>
              <a:t>Phase 5</a:t>
            </a:r>
            <a:endParaRPr lang="en-US" sz="1000"/>
          </a:p>
          <a:p>
            <a:pPr algn="ctr" marL="0" indent="0">
              <a:buNone/>
            </a:pPr>
            <a:r>
              <a:rPr lang="en-US" sz="1000" b="1">
                <a:solidFill>
                  <a:srgbClr val="F8FAFC"/>
                </a:solidFill>
                <a:latin typeface="Aptos"/>
              </a:rPr>
              <a:t>Advanced patterns</a:t>
            </a:r>
            <a:endParaRPr lang="en-US" sz="1000"/>
          </a:p>
          <a:p>
            <a:pPr algn="ctr" marL="0" indent="0">
              <a:buNone/>
            </a:pPr>
            <a:r>
              <a:rPr lang="en-US" sz="1000" b="1">
                <a:solidFill>
                  <a:srgbClr val="F8FAFC"/>
                </a:solidFill>
                <a:latin typeface="Aptos"/>
              </a:rPr>
              <a:t>GraphRAG, Agentic RAG, specialist retrievers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1188720" y="4206240"/>
            <a:ext cx="9326880" cy="594360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400" b="1">
                <a:solidFill>
                  <a:srgbClr val="F8FAFC"/>
                </a:solidFill>
                <a:latin typeface="Aptos"/>
              </a:rPr>
              <a:t>Current next best improvement: citation validation before larger retrieval or vector-index changes.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SERVICE INVENTORY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Cloud Services Used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16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AWS and GCP responsibilities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AWS: S3 static hosting, CloudFront CDN/HTTPS, API Gateway, Lambda, DynamoDB.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GCP: Cloud Run, Vertex AI Gemini API, Vertex AI text-embedding-005, Firestore, Cloud Storage.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GitHub Actions deploys backend image to Cloud Run and passes runtime env vars.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Frontend default API target: gcp-rag-backend-189047029621.asia-east1.run.app.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6400800" y="1463040"/>
            <a:ext cx="1920240" cy="2377440"/>
          </a:xfrm>
          <a:prstGeom prst="roundRect">
            <a:avLst/>
          </a:prstGeom>
          <a:solidFill>
            <a:srgbClr val="1A1725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900" b="1">
                <a:solidFill>
                  <a:srgbClr val="FF9900"/>
                </a:solidFill>
                <a:latin typeface="Aptos"/>
              </a:rPr>
              <a:t>AWS</a:t>
            </a:r>
            <a:endParaRPr lang="en-US" sz="1900"/>
          </a:p>
          <a:p>
            <a:pPr algn="ctr" marL="0" indent="0">
              <a:buNone/>
            </a:pPr>
            <a:r>
              <a:rPr lang="en-US" sz="1900" b="1">
                <a:solidFill>
                  <a:srgbClr val="FF9900"/>
                </a:solidFill>
                <a:latin typeface="Aptos"/>
              </a:rPr>
              <a:t>static delivery</a:t>
            </a:r>
            <a:endParaRPr lang="en-US" sz="1900"/>
          </a:p>
          <a:p>
            <a:pPr algn="ctr" marL="0" indent="0">
              <a:buNone/>
            </a:pPr>
            <a:r>
              <a:rPr lang="en-US" sz="1900" b="1">
                <a:solidFill>
                  <a:srgbClr val="FF9900"/>
                </a:solidFill>
                <a:latin typeface="Aptos"/>
              </a:rPr>
              <a:t>visitor counter</a:t>
            </a:r>
            <a:endParaRPr lang="en-US" sz="1900"/>
          </a:p>
        </p:txBody>
      </p:sp>
      <p:sp>
        <p:nvSpPr>
          <p:cNvPr id="9" name="Shape 9"/>
          <p:cNvSpPr/>
          <p:nvPr/>
        </p:nvSpPr>
        <p:spPr>
          <a:xfrm>
            <a:off x="8869680" y="1463040"/>
            <a:ext cx="1920240" cy="2377440"/>
          </a:xfrm>
          <a:prstGeom prst="roundRect">
            <a:avLst/>
          </a:prstGeom>
          <a:solidFill>
            <a:srgbClr val="111D32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900" b="1">
                <a:solidFill>
                  <a:srgbClr val="4285F4"/>
                </a:solidFill>
                <a:latin typeface="Aptos"/>
              </a:rPr>
              <a:t>GCP</a:t>
            </a:r>
            <a:endParaRPr lang="en-US" sz="1900"/>
          </a:p>
          <a:p>
            <a:pPr algn="ctr" marL="0" indent="0">
              <a:buNone/>
            </a:pPr>
            <a:r>
              <a:rPr lang="en-US" sz="1900" b="1">
                <a:solidFill>
                  <a:srgbClr val="4285F4"/>
                </a:solidFill>
                <a:latin typeface="Aptos"/>
              </a:rPr>
              <a:t>RAG backend</a:t>
            </a:r>
            <a:endParaRPr lang="en-US" sz="1900"/>
          </a:p>
          <a:p>
            <a:pPr algn="ctr" marL="0" indent="0">
              <a:buNone/>
            </a:pPr>
            <a:r>
              <a:rPr lang="en-US" sz="1900" b="1">
                <a:solidFill>
                  <a:srgbClr val="4285F4"/>
                </a:solidFill>
                <a:latin typeface="Aptos"/>
              </a:rPr>
              <a:t>AI retrieval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ENGINEERING SIGNAL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Skills Demonstrated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17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What this project proves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Frontend: React, Vite, modular state/hooks/components, responsive UI, streaming UX.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Backend: FastAPI, service extraction, request schemas, controlled errors, structured logging.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Cloud: CloudFront/S3, API Gateway/Lambda/DynamoDB, Cloud Run, Firestore, GCS, Vertex AI.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AI/RAG: embeddings, retrieval scoring, source IDs, persistent memory, streaming, query rewriting.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Operations: CORS diagnosis, workflow env vars, admin token protection, tests and verification.</a:t>
            </a:r>
            <a:endParaRPr lang="en-US"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ROADMAP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Future Improvements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18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Planned next work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Citation validation to reject or repair invalid source IDs.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Chunk overlap and token-aware chunking for cleaner retrieval context boundaries.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Multi-query retrieval and metadata filtering.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CI-based RAG evaluation and monitoring dashboard.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Managed vector retrieval with Firestore Vector Search or Vertex AI Vector Search.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Frontend architecture trace and enhanced AI UX.</a:t>
            </a:r>
            <a:endParaRPr lang="en-US"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WHY IT MATTERS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Business Value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19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685800" y="1508760"/>
            <a:ext cx="4572000" cy="42976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500" b="1">
                <a:solidFill>
                  <a:srgbClr val="F8FAFC"/>
                </a:solidFill>
                <a:latin typeface="Aptos"/>
              </a:rPr>
              <a:t>Portfolio value for non-technical and technical audiences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Recruiters see a polished portfolio with a working AI assistant.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Hiring managers see ownership across frontend, backend, cloud deployment, and debugging.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Cloud engineers can inspect concrete service boundaries and request flows.</a:t>
            </a:r>
            <a:endParaRPr lang="en-US" sz="1500"/>
          </a:p>
          <a:p>
            <a:pPr algn="l" marL="342900" indent="-171450">
              <a:buChar char="•"/>
              <a:buFont typeface="Aptos"/>
            </a:pPr>
            <a:r>
              <a:rPr lang="en-US" sz="1500">
                <a:solidFill>
                  <a:srgbClr val="F8FAFC"/>
                </a:solidFill>
                <a:latin typeface="Aptos"/>
              </a:rPr>
              <a:t>Interviewers get multiple deep-dive paths: CORS incident, RAG pipeline, Firestore schema, streaming implementation.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6400800" y="1508760"/>
            <a:ext cx="4297680" cy="9144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Not a demo script</a:t>
            </a:r>
            <a:endParaRPr lang="en-US" sz="1700"/>
          </a:p>
          <a:p>
            <a:pPr algn="ctr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A deployed system with real constraints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6400800" y="2788920"/>
            <a:ext cx="4297680" cy="91440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Not a static resume</a:t>
            </a:r>
            <a:endParaRPr lang="en-US" sz="1700"/>
          </a:p>
          <a:p>
            <a:pPr algn="ctr" marL="0" indent="0">
              <a:buNone/>
            </a:pPr>
            <a:r>
              <a:rPr lang="en-US" sz="1700" b="1">
                <a:solidFill>
                  <a:srgbClr val="F8FAFC"/>
                </a:solidFill>
                <a:latin typeface="Aptos"/>
              </a:rPr>
              <a:t>A portfolio that answers questions from project docs</a:t>
            </a:r>
            <a:endParaRPr lang="en-US"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800">
                <a:solidFill>
                  <a:srgbClr val="F8FAFC"/>
                </a:solidFill>
                <a:latin typeface="Aptos"/>
              </a:rPr>
              <a:t/>
            </a:r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502920" y="256032"/>
            <a:ext cx="1600200" cy="292608"/>
          </a:xfrm>
          <a:prstGeom prst="roundRect">
            <a:avLst/>
          </a:prstGeom>
          <a:solidFill>
            <a:srgbClr val="142238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 b="1">
                <a:solidFill>
                  <a:srgbClr val="4285F4"/>
                </a:solidFill>
                <a:latin typeface="Aptos"/>
              </a:rPr>
              <a:t>CLOSE</a:t>
            </a:r>
            <a:endParaRPr lang="en-US" sz="800"/>
          </a:p>
        </p:txBody>
      </p:sp>
      <p:sp>
        <p:nvSpPr>
          <p:cNvPr id="4" name="Shape 4"/>
          <p:cNvSpPr/>
          <p:nvPr/>
        </p:nvSpPr>
        <p:spPr>
          <a:xfrm>
            <a:off x="502920" y="658368"/>
            <a:ext cx="7223760" cy="566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2400" b="1">
                <a:solidFill>
                  <a:srgbClr val="F8FAFC"/>
                </a:solidFill>
                <a:latin typeface="Aptos"/>
              </a:rPr>
              <a:t>Thank You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9692640" y="320040"/>
            <a:ext cx="1828800" cy="237744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800">
                <a:solidFill>
                  <a:srgbClr val="94A3B8"/>
                </a:solidFill>
                <a:latin typeface="Aptos"/>
              </a:rPr>
              <a:t>20 / 20</a:t>
            </a:r>
            <a:endParaRPr lang="en-US" sz="800"/>
          </a:p>
        </p:txBody>
      </p:sp>
      <p:sp>
        <p:nvSpPr>
          <p:cNvPr id="6" name="Shape 6"/>
          <p:cNvSpPr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700">
                <a:solidFill>
                  <a:srgbClr val="94A3B8"/>
                </a:solidFill>
                <a:latin typeface="Aptos"/>
              </a:rPr>
              <a:t>Jarrett Tang | Multi-Cloud AI Portfolio Assistant</a:t>
            </a:r>
            <a:endParaRPr lang="en-US" sz="700"/>
          </a:p>
        </p:txBody>
      </p:sp>
      <p:sp>
        <p:nvSpPr>
          <p:cNvPr id="7" name="Shape 7"/>
          <p:cNvSpPr/>
          <p:nvPr/>
        </p:nvSpPr>
        <p:spPr>
          <a:xfrm>
            <a:off x="914400" y="1645920"/>
            <a:ext cx="6675120" cy="10972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3100" b="1">
                <a:solidFill>
                  <a:srgbClr val="F8FAFC"/>
                </a:solidFill>
                <a:latin typeface="Aptos"/>
              </a:rPr>
              <a:t>Building a Multi-Cloud AI Portfolio Assistant</a:t>
            </a:r>
            <a:endParaRPr lang="en-US" sz="3100"/>
          </a:p>
        </p:txBody>
      </p:sp>
      <p:sp>
        <p:nvSpPr>
          <p:cNvPr id="8" name="Shape 8"/>
          <p:cNvSpPr/>
          <p:nvPr/>
        </p:nvSpPr>
        <p:spPr>
          <a:xfrm>
            <a:off x="960120" y="2971800"/>
            <a:ext cx="7863840" cy="64008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2B3B55"/>
            </a:solidFill>
          </a:ln>
        </p:spPr>
        <p:txBody>
          <a:bodyPr wrap="square" anchor="mid" lIns="91440" tIns="68580" rIns="91440" bIns="68580"/>
          <a:lstStyle/>
          <a:p>
            <a:pPr algn="l" marL="0" indent="0">
              <a:buNone/>
            </a:pPr>
            <a:r>
              <a:rPr lang="en-US" sz="1700" b="1">
                <a:solidFill>
                  <a:srgbClr val="94A3B8"/>
                </a:solidFill>
                <a:latin typeface="Aptos"/>
              </a:rPr>
              <a:t>AWS Cloud Resume foundation + GCP Advanced RAG roadmap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960120" y="4160520"/>
            <a:ext cx="210312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4285F4"/>
                </a:solidFill>
                <a:latin typeface="Aptos"/>
              </a:rPr>
              <a:t>Frontend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4285F4"/>
                </a:solidFill>
                <a:latin typeface="Aptos"/>
              </a:rPr>
              <a:t>React + Vite</a:t>
            </a:r>
            <a:endParaRPr lang="en-US" sz="1500"/>
          </a:p>
        </p:txBody>
      </p:sp>
      <p:sp>
        <p:nvSpPr>
          <p:cNvPr id="10" name="Shape 10"/>
          <p:cNvSpPr/>
          <p:nvPr/>
        </p:nvSpPr>
        <p:spPr>
          <a:xfrm>
            <a:off x="3474720" y="4160520"/>
            <a:ext cx="210312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4285F4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4285F4"/>
                </a:solidFill>
                <a:latin typeface="Aptos"/>
              </a:rPr>
              <a:t>Backend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4285F4"/>
                </a:solidFill>
                <a:latin typeface="Aptos"/>
              </a:rPr>
              <a:t>Cloud Run FastAPI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5989320" y="4160520"/>
            <a:ext cx="210312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34A853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34A853"/>
                </a:solidFill>
                <a:latin typeface="Aptos"/>
              </a:rPr>
              <a:t>RAG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34A853"/>
                </a:solidFill>
                <a:latin typeface="Aptos"/>
              </a:rPr>
              <a:t>Gemini + Firestore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8503920" y="4160520"/>
            <a:ext cx="2103120" cy="731520"/>
          </a:xfrm>
          <a:prstGeom prst="roundRect">
            <a:avLst/>
          </a:prstGeom>
          <a:solidFill>
            <a:srgbClr val="101C2E"/>
          </a:solidFill>
          <a:ln w="12700">
            <a:solidFill>
              <a:srgbClr val="FF9900"/>
            </a:solidFill>
          </a:ln>
        </p:spPr>
        <p:txBody>
          <a:bodyPr wrap="square" anchor="mid" lIns="91440" tIns="68580" rIns="91440" bIns="68580"/>
          <a:lstStyle/>
          <a:p>
            <a:pPr algn="ctr" marL="0" indent="0">
              <a:buNone/>
            </a:pPr>
            <a:r>
              <a:rPr lang="en-US" sz="1500" b="1">
                <a:solidFill>
                  <a:srgbClr val="FF9900"/>
                </a:solidFill>
                <a:latin typeface="Aptos"/>
              </a:rPr>
              <a:t>AWS</a:t>
            </a:r>
            <a:endParaRPr lang="en-US" sz="1500"/>
          </a:p>
          <a:p>
            <a:pPr algn="ctr" marL="0" indent="0">
              <a:buNone/>
            </a:pPr>
            <a:r>
              <a:rPr lang="en-US" sz="1500" b="1">
                <a:solidFill>
                  <a:srgbClr val="FF9900"/>
                </a:solidFill>
                <a:latin typeface="Aptos"/>
              </a:rPr>
              <a:t>CloudFront + Lambda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Dark">
  <a:themeElements>
    <a:clrScheme name="CloudDark">
      <a:dk1>
        <a:srgbClr val="07111F"/>
      </a:dk1>
      <a:lt1>
        <a:srgbClr val="FFFFFF"/>
      </a:lt1>
      <a:dk2>
        <a:srgbClr val="101C2E"/>
      </a:dk2>
      <a:lt2>
        <a:srgbClr val="E5E7EB"/>
      </a:lt2>
      <a:accent1>
        <a:srgbClr val="4285F4"/>
      </a:accent1>
      <a:accent2>
        <a:srgbClr val="FF9900"/>
      </a:accent2>
      <a:accent3>
        <a:srgbClr val="34A853"/>
      </a:accent3>
      <a:accent4>
        <a:srgbClr val="FBBC05"/>
      </a:accent4>
      <a:accent5>
        <a:srgbClr val="8B5CF6"/>
      </a:accent5>
      <a:accent6>
        <a:srgbClr val="EA4335"/>
      </a:accent6>
      <a:hlink>
        <a:srgbClr val="4285F4"/>
      </a:hlink>
      <a:folHlink>
        <a:srgbClr val="8B5CF6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oudDark">
      <a:fillStyleLst>
        <a:solidFill>
          <a:srgbClr val="101C2E"/>
        </a:solidFill>
      </a:fillStyleLst>
      <a:lnStyleLst>
        <a:ln w="12700">
          <a:solidFill>
            <a:srgbClr val="2B3B55"/>
          </a:solidFill>
        </a:ln>
      </a:lnStyleLst>
      <a:effectStyleLst>
        <a:effectStyle>
          <a:effectLst/>
        </a:effectStyle>
      </a:effectStyleLst>
      <a:bgFillStyleLst>
        <a:solidFill>
          <a:srgbClr val="07111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20</Slides>
  <Notes>20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Multi-Cloud AI Portfolio Assistant</dc:title>
  <dc:creator>Codex</dc:creator>
  <cp:lastModifiedBy>Codex</cp:lastModifiedBy>
</cp:coreProperties>
</file>